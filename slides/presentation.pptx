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C5FD"/>
                </a:solidFill>
              </a:rPr>
              <a:t>Sprint 2  成果発表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故障報告
構造化・分析
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AD8FF"/>
                </a:solidFill>
              </a:rPr>
              <a:t>LLM × ベクトル検索 × TDD で作る
保全データ活用基盤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754880"/>
            <a:ext cx="987552" cy="2926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47731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6192" y="4754880"/>
            <a:ext cx="987552" cy="2926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47731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Next.js 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15184" y="4754880"/>
            <a:ext cx="987552" cy="2926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47731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FAISS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94176" y="4754880"/>
            <a:ext cx="987552" cy="2926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4" y="4773168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Claude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38928"/>
            <a:ext cx="987552" cy="2926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515721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JWT / RBAC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36192" y="5138928"/>
            <a:ext cx="987552" cy="2926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515721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TDD 89tests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15184" y="5138928"/>
            <a:ext cx="987552" cy="2926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33472" y="5157216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VSA</a:t>
            </a:r>
          </a:p>
        </p:txBody>
      </p:sp>
      <p:pic>
        <p:nvPicPr>
          <p:cNvPr id="21" name="Picture 20" descr="07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48640"/>
            <a:ext cx="6400800" cy="5486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58000" y="6126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ログイン画面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故障報告 構造化・分析システム  —  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</a:rPr>
              <a:t>課題の背景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25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5029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13F12"/>
                </a:solidFill>
              </a:rPr>
              <a:t>製造業の保全現場には 10年分・約20,000件 の故障記録が蓄積。しかし自由記述のため分析できていない。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548640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自由記述で構造化されていない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</a:rPr>
              <a:t>「2023年12月、温度センサー故障。停止3時間、部品代5万円」
のようなテキストのみ。定量分析・集計が不可能。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920240"/>
            <a:ext cx="548640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574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同じ故障が繰り返される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51460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</a:rPr>
              <a:t>設備設計者が保全データをほとんど参照せず、
設計改善に活用されていない。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548640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94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947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傾向・コストの可視化ができない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519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</a:rPr>
              <a:t>故障頻度・修理コスト・停止時間が集計できず、
保全投資の優先度判断が属人的。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657600"/>
            <a:ext cx="548640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794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7947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類似事例を検索できない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2519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</a:rPr>
              <a:t>過去の故障事例を参照できず、
復旧作業に時間がかかるケースが多い。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94960"/>
            <a:ext cx="114300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440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根本課題：「設計部門」と「現場（保全）」が断絶している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故障報告 構造化・分析システム  —  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</a:rPr>
              <a:t>Sprint 2 で学んだこと → 実装への活用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25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411480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234440"/>
            <a:ext cx="100584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309360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学習テーマ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2618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Slice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261872"/>
            <a:ext cx="6126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本プロジェクトでの活用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81912"/>
            <a:ext cx="114300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6916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</a:rPr>
              <a:t>LLMアプリケーション構築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1746504"/>
            <a:ext cx="82296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76479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D4ED8"/>
                </a:solidFill>
              </a:rPr>
              <a:t>Slice 1・4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655064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自由記述テキストをClaudeで8項目に自動構造化。改善示唆生成。APIキー未設定時はモックに自動フォールバック。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31720"/>
            <a:ext cx="11430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4414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</a:rPr>
              <a:t>RAG・ベクトル検索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2496312"/>
            <a:ext cx="82296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25146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D4ED8"/>
                </a:solidFill>
              </a:rPr>
              <a:t>Slice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40487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FAISS + sentence-transformersで意味的類似検索を実現。「油漏れ」→「オイルリーク」もヒット。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081528"/>
            <a:ext cx="114300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19125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</a:rPr>
              <a:t>TDD（テスト駆動開発）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98848" y="3246120"/>
            <a:ext cx="82296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32644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D4ED8"/>
                </a:solidFill>
              </a:rPr>
              <a:t>全Slice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154680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Red-Green-Refactorサイクルで89テスト全通過。外部依存（FAISS・Claude API）はモックで隔離。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31335"/>
            <a:ext cx="11430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941063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</a:rPr>
              <a:t>アーキテクチャパターン（VSA）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98848" y="3995927"/>
            <a:ext cx="82296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8" y="4014215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D4ED8"/>
                </a:solidFill>
              </a:rPr>
              <a:t>設計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904487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Vertical Slice Architecture + 3層構造（API→Service→Repository）で機能ごとに独立したスライス構成。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581144"/>
            <a:ext cx="114300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69087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</a:rPr>
              <a:t>JWT認証・RBAC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98848" y="4745736"/>
            <a:ext cx="82296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8848" y="476402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D4ED8"/>
                </a:solidFill>
              </a:rPr>
              <a:t>認証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4654296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HS256 JWT（8時間有効）、admin/userの2ロール。ユーザーCRUD・パスワード管理・セッション期限切れUX。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330952"/>
            <a:ext cx="11430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4406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</a:rPr>
              <a:t>データ分析・可視化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98848" y="5495544"/>
            <a:ext cx="82296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98848" y="551383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D4ED8"/>
                </a:solidFill>
              </a:rPr>
              <a:t>Slice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5404104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SQLによる集計クエリ（GROUP BY）、Rechartsで4種グラフ（円・折線・棒・KPI）を描画。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故障報告 構造化・分析システム  —  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</a:rPr>
              <a:t>システム構成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25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291840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</a:rPr>
              <a:t>フロントエンド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• Next.js 16 (App Router)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84831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• React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14015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• Tailwind CSS v4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• Recharts（グラフ）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72384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• sonner（トースト通知）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40A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840480" cy="22860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</a:rPr>
              <a:t>バックエンド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5564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• FastAPI (Python)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084831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• SQLAlchemy 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14015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• JWT 認証 (HS256)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74320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• Anthropic Claude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072384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• sentence-transformers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611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40AF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4023360"/>
            <a:ext cx="3840480" cy="1188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1148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</a:rPr>
              <a:t>データ層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46227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• PostgreSQL（リレーショナルDB）
• FAISS Index（ベクトルDB）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280160"/>
            <a:ext cx="3474720" cy="502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</a:rPr>
              <a:t>スライス依存関係（VSA）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175564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Slice 0-1  セットアップ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066543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37744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Slice 0-2  DB設計・ORM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268833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299923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Slice 0-3  シーダー・FAISS基盤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31012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362102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Slice 1    LLM構造化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393192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424281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Slice 2    データ保存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455371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↙              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864608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Slice 3          Slice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517550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(ダッシュ)    (FAISS検索)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548640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5797296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Slice 4    AI示唆生成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故障報告 構造化・分析システム  —  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</a:rPr>
              <a:t>機能①  LLM構造化入力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25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学び：LLMアプリケーション構築 / プロンプトエンジニアリング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28016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36192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</a:rPr>
              <a:t>自由記述
テキスト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572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508760"/>
            <a:ext cx="10972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536192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</a:rPr>
              <a:t>LLM
（Claude）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572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508760"/>
            <a:ext cx="10972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36192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</a:rPr>
              <a:t>8項目
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57276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1508760"/>
            <a:ext cx="10972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1536192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</a:rPr>
              <a:t>DB保存
(+FAISS)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286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発生日・設備名・症状・原因・対策・コスト・停止時間・故障モードを自動抽出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700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構造化結果は画面上で編集可能（ヒューマン・イン・ザ・ループ）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0540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APIキー未設定時は正規表現ベースのモックに自動フォールバック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4381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CSVインポート・サンプル一括投入にも対応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82219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保存時にFAISSインデックスを自動更新</a:t>
            </a:r>
          </a:p>
        </p:txBody>
      </p:sp>
      <p:pic>
        <p:nvPicPr>
          <p:cNvPr id="24" name="Picture 23" descr="01_input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34440"/>
            <a:ext cx="6126480" cy="2560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58000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↑ テキスト入力</a:t>
            </a:r>
          </a:p>
        </p:txBody>
      </p:sp>
      <p:pic>
        <p:nvPicPr>
          <p:cNvPr id="26" name="Picture 25" descr="02_input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4160520"/>
            <a:ext cx="6126480" cy="2468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00800" y="6629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↑ LLM構造化結果（編集可能）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故障報告 構造化・分析システム  —  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</a:rPr>
              <a:t>機能②  ベクトル検索（RAG）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25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学び：RAG（検索拡張生成）/ セマンティック検索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72768"/>
            <a:ext cx="5029200" cy="10515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</a:rPr>
              <a:t>通常のキーワード検索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</a:rPr>
              <a:t>「油漏れ」→ ✗ 完全一致のみヒット
「異音」　→ ✗ 表記揺れは検索不可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5029200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980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</a:rPr>
              <a:t>FAISSベクトル検索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A34A"/>
                </a:solidFill>
              </a:rPr>
              <a:t>「油漏れ」→ ✅「オイルリーク」「漏油」もヒット
「異音」　→ ✅「振動発生」も類似として検索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776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sentence-transformers（多言語対応モデル）でテキストをベクトル化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616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FAISS IndexFlatIP（内積類似度）でTop-K検索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745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データ保存時にインデックスを自動更新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12978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日付・故障モード・コスト範囲でのフィルター対応</a:t>
            </a:r>
          </a:p>
        </p:txBody>
      </p:sp>
      <p:pic>
        <p:nvPicPr>
          <p:cNvPr id="18" name="Picture 17" descr="04_search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34440"/>
            <a:ext cx="621792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↑ 故障事例一覧（311件）</a:t>
            </a:r>
          </a:p>
        </p:txBody>
      </p:sp>
      <p:pic>
        <p:nvPicPr>
          <p:cNvPr id="20" name="Picture 19" descr="05_search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4480560"/>
            <a:ext cx="6217920" cy="21945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6675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↑ 詳細モーダル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故障報告 構造化・分析システム  —  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</a:rPr>
              <a:t>機能③  ダッシュボード・AI示唆生成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25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学び：データ分析・可視化 / LLMアプリケーション構築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KPI：総故障件数・総修理コスト・平均停止時間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568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故障モード別内訳（円グラフ）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408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月次故障件数トレンド（折れ線グラフ）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24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設備別修理コスト TOP10（棒グラフ）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089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期間・設備名フィルターでリアルタイム絞り込み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5029200" cy="13716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393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✦  AI改善示唆生成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2336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集計データをClaudeに送信し、改善施策を3〜5点提案。
APIキー未設定時はモックテキストを返却。</a:t>
            </a:r>
          </a:p>
        </p:txBody>
      </p:sp>
      <p:pic>
        <p:nvPicPr>
          <p:cNvPr id="16" name="Picture 15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34440"/>
            <a:ext cx="6217920" cy="5486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0" y="67482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↑ ダッシュボード（サンプル311件）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故障報告 構造化・分析システム  —  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</a:rPr>
              <a:t>機能④  JWT認証・ユーザー管理（RBAC）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25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学び：JWT認証 / RBAC（ロールベースアクセス制御）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72768"/>
            <a:ext cx="2468880" cy="256032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</a:rPr>
              <a:t>👑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84831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✅  データ入力・検索・ダッシュボード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4203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✅  ユーザーの追加・削除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9923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✅  他ユーザーのパスワードリセット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5643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✅  自分のパスワード変更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1572768"/>
            <a:ext cx="246888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16642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</a:rPr>
              <a:t>👤 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084831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✅  データ入力・検索・ダッシュボード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54203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2626"/>
                </a:solidFill>
              </a:rPr>
              <a:t>❌  ユーザーの追加・削除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99923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C2626"/>
                </a:solidFill>
              </a:rPr>
              <a:t>❌  他ユーザーのパスワードリセット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45643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✅  自分のパスワード変更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251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</a:rPr>
              <a:t>JWT設計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• アルゴリズム：HS256 / 有効期限：8時間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109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• ペイロード：{ sub: username, role: role, exp: ...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35838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• セッション期限切れ時にトースト通知 → 自動でログインへ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7058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• 全APIエンドポイントに認証必須（未認証は401）</a:t>
            </a:r>
          </a:p>
        </p:txBody>
      </p:sp>
      <p:pic>
        <p:nvPicPr>
          <p:cNvPr id="25" name="Picture 24" descr="06_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34440"/>
            <a:ext cx="6217920" cy="5029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92240" y="6309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</a:rPr>
              <a:t>↑ ユーザー管理画面（admin専用）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故障報告 構造化・分析システム  —  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</a:rPr>
              <a:t>TDDサイクル  —  89テスト 全通過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25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学び：テスト駆動開発（TDD）/ テストを仕様として使う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72768"/>
            <a:ext cx="3657600" cy="17373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</a:rPr>
              <a:t>🔴 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</a:rPr>
              <a:t>失敗するテストを書く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実装前にAPIの入出力仕様をテストとして定義。
まず失敗することを確認。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72768"/>
            <a:ext cx="3657600" cy="1737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642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</a:rPr>
              <a:t>🟢 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</a:rPr>
              <a:t>最小限の実装で通す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774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テストが通る最小限のコードを実装。
余計な機能は作らない。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572768"/>
            <a:ext cx="365760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642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</a:rPr>
              <a:t>🔵 Refactor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</a:rPr>
              <a:t>品質を上げる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774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</a:rPr>
              <a:t>テストが緑のまま、コードの
可読性・構造を改善する。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93008"/>
            <a:ext cx="438912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38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テスト対象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5387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件数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40480"/>
            <a:ext cx="4389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87705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認証・ユーザー管理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8770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169664"/>
            <a:ext cx="4389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2062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故障レポート保存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206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498848"/>
            <a:ext cx="4389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5354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検索（FAISS含む）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5354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28032"/>
            <a:ext cx="4389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8646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ダッシュボード集計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8646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157216"/>
            <a:ext cx="4389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1937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AI示唆生成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51937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486400"/>
            <a:ext cx="4389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5229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VectorStore（FAISS）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55229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815584"/>
            <a:ext cx="4389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852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リポジトリ・その他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5852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</a:rPr>
              <a:t>41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144768"/>
            <a:ext cx="438912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18134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</a:rPr>
              <a:t>合計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61813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A34A"/>
                </a:solidFill>
              </a:rPr>
              <a:t>89 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34930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</a:rPr>
              <a:t>テスト設計のポイント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391363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SQLite インメモリDBで高速テスト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437083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FAISS・Claude APIはモックで隔離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482803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conftest.py で共通フィクスチャ管理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528523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✅  認証ヘッダーも fixtures で統一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6035040"/>
            <a:ext cx="411480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20640" y="61081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</a:rPr>
              <a:t>全89テスト・0失敗・81秒で完走 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故障報告 構造化・分析システム  —  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4ED8"/>
                </a:solidFill>
              </a:rPr>
              <a:t>まとめ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30000" cy="25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64008" cy="137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</a:rPr>
              <a:t>LLMアプリケーション構築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2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自由記述テキストをClaudeで8項目に自動構造化。モックフォールバック設計でAPIキー不要でも動作。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32588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325880"/>
            <a:ext cx="64008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630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</a:rPr>
              <a:t>RAG・ベクトル検索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7452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FAISSとsentence-transformersで意味的類似検索を実現。表記揺れに強い検索で過去事例を再利用。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8036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880360"/>
            <a:ext cx="64008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175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TDD（テスト駆動開発）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2900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89テスト全通過。外部依存をモックで隔離し、高速・安定したテスト環境を構築。仕様をコードで表現。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88036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2880360"/>
            <a:ext cx="64008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0175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</a:rPr>
              <a:t>Vertical Slice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42900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機能ごとにスライスを切り、段階的に動作確認しながら実装。スライス間の依存を最小化した設計。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3484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434840"/>
            <a:ext cx="64008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JWT認証・RBAC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8348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admin/userの2ロール、ユーザーCRUD、パスワード管理。セッション期限切れ時のUX改善まで実装。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4434840"/>
            <a:ext cx="54864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4434840"/>
            <a:ext cx="64008" cy="1371600"/>
          </a:xfrm>
          <a:prstGeom prst="rect">
            <a:avLst/>
          </a:prstGeom>
          <a:solidFill>
            <a:srgbClr val="0E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5720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A82"/>
                </a:solidFill>
              </a:rPr>
              <a:t>データ分析・可視化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98348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SQLによる集計クエリ、Rechartsで4種グラフ描画。フィルター・ソート・ページネーション完備。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989320"/>
            <a:ext cx="11430000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保全データが「設計を変える力」になるシステムを、Sprint 2 の学びを活かして構築した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